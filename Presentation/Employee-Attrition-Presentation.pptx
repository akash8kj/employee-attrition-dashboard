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elasio" panose="020B0604020202020204" charset="0"/>
      <p:regular r:id="rId17"/>
    </p:embeddedFont>
    <p:embeddedFont>
      <p:font typeface="Lato" panose="020F0502020204030204" pitchFamily="34" charset="0"/>
      <p:regular r:id="rId18"/>
    </p:embeddedFont>
    <p:embeddedFont>
      <p:font typeface="Lato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91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0823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Employee Attrition Analytics &amp; Predictive Insights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068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end-to-end data pipeline: Python EDA, PostgreSQL Relational Warehousing, and Interactive Power BI Executive Dashboard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319909"/>
            <a:ext cx="639366" cy="215354"/>
          </a:xfrm>
          <a:prstGeom prst="roundRect">
            <a:avLst>
              <a:gd name="adj" fmla="val 22119"/>
            </a:avLst>
          </a:prstGeom>
          <a:solidFill>
            <a:srgbClr val="E8E8E3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362399"/>
            <a:ext cx="92645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206326" y="3319909"/>
            <a:ext cx="881955" cy="215354"/>
          </a:xfrm>
          <a:prstGeom prst="roundRect">
            <a:avLst>
              <a:gd name="adj" fmla="val 22119"/>
            </a:avLst>
          </a:prstGeom>
          <a:solidFill>
            <a:srgbClr val="E8E8E3"/>
          </a:solidFill>
          <a:ln/>
        </p:spPr>
      </p:sp>
      <p:sp>
        <p:nvSpPr>
          <p:cNvPr id="8" name="Text 5"/>
          <p:cNvSpPr/>
          <p:nvPr/>
        </p:nvSpPr>
        <p:spPr>
          <a:xfrm>
            <a:off x="1291382" y="3362399"/>
            <a:ext cx="116904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159124" y="3319909"/>
            <a:ext cx="714152" cy="215354"/>
          </a:xfrm>
          <a:prstGeom prst="roundRect">
            <a:avLst>
              <a:gd name="adj" fmla="val 22119"/>
            </a:avLst>
          </a:prstGeom>
          <a:solidFill>
            <a:srgbClr val="E8E8E3"/>
          </a:solidFill>
          <a:ln/>
        </p:spPr>
      </p:sp>
      <p:sp>
        <p:nvSpPr>
          <p:cNvPr id="10" name="Text 7"/>
          <p:cNvSpPr/>
          <p:nvPr/>
        </p:nvSpPr>
        <p:spPr>
          <a:xfrm>
            <a:off x="2244179" y="3362399"/>
            <a:ext cx="100124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 BI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944118" y="3319909"/>
            <a:ext cx="168294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E5E5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29173" y="3362399"/>
            <a:ext cx="197003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5E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V1.0 — PRODUCTION READY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6007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Executive Summary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515666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document outlines the end-to-end data architecture, EDA, database relational modeling, and interactive visualization framework developed to quantify and mitigate workforce attrition — delivering actionable business intelligence to executive decision-makers.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582391"/>
            <a:ext cx="4722763" cy="1701031"/>
          </a:xfrm>
          <a:prstGeom prst="roundRect">
            <a:avLst>
              <a:gd name="adj" fmla="val 3500"/>
            </a:avLst>
          </a:prstGeom>
          <a:solidFill>
            <a:srgbClr val="E8E8E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2783160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2759571"/>
            <a:ext cx="4120307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Takeaway:</a:t>
            </a:r>
            <a:r>
              <a:rPr lang="en-US" sz="11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Workforce turnover is heavily concentrated in high-pressure roles (Technology and Healthcare), driven primarily by excessive overtime, below-average job satisfaction, and poor work-life balance. Operational interventions targeting work schedules and structured career progression offer the highest return on retention investment.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243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End-to-End Architecture &amp; Workflow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9893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robust three-tier data analytics architecture engineered for production-grade HR intelligence.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85218"/>
            <a:ext cx="2717229" cy="567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7877" y="2694012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Ingestion &amp; Hygiene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3000524"/>
            <a:ext cx="24337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Python/Pandas: automated ingestion, type casting, text normalization, median imputation, IQR outlier inspection, and deduplication.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1985218"/>
            <a:ext cx="2717229" cy="567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55107" y="2694012"/>
            <a:ext cx="243371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Relational Storage &amp; SQL Warehousing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355107" y="3221980"/>
            <a:ext cx="24337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PostgreSQL &amp; SQLAlchemy: programmatic connection, schema management, structured persistence, and complex SQL aggregate profiling.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1985218"/>
            <a:ext cx="2717229" cy="567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72336" y="2694012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Executive Visual Analytics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72336" y="3000524"/>
            <a:ext cx="24337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 BI: multi-page dashboard with DAX metrics, interactive cross-filtering, dark-mode design, and smart narrative summaries.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2392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Exploratory Data Analysis &amp; Data Preparation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22115"/>
            <a:ext cx="5207794" cy="29510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8082" y="973931"/>
            <a:ext cx="268448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Integrity Pipeline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8082" y="1229692"/>
            <a:ext cx="2684487" cy="7845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45783" y="1350243"/>
            <a:ext cx="238623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Categorical Standardization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145783" y="1596033"/>
            <a:ext cx="2386236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Whitespace trimming and Title Case conversion to eliminate string redundancy.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8082" y="2093937"/>
            <a:ext cx="2684487" cy="78454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45783" y="2214488"/>
            <a:ext cx="238623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Statistical Imputation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6145783" y="2460278"/>
            <a:ext cx="2386236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Median-based imputation for skewed variables like </a:t>
            </a: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DistanceFromHome</a:t>
            </a:r>
            <a:r>
              <a:rPr lang="en-US" sz="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</a:t>
            </a: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CompanyTenure</a:t>
            </a:r>
            <a:r>
              <a:rPr lang="en-US" sz="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8082" y="2958182"/>
            <a:ext cx="2684487" cy="7889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45783" y="3078733"/>
            <a:ext cx="238623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Outlier Detection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145783" y="3324523"/>
            <a:ext cx="2386236" cy="3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IQR bounds (</a:t>
            </a:r>
            <a:r>
              <a:rPr lang="en-US" sz="800" i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Q1 - 1.5 \times IQR</a:t>
            </a:r>
            <a:r>
              <a:rPr lang="en-US" sz="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to </a:t>
            </a:r>
            <a:r>
              <a:rPr lang="en-US" sz="800" i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Q3 + 1.5 \times IQR</a:t>
            </a:r>
            <a:r>
              <a:rPr lang="en-US" sz="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 with boxplot verification.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8082" y="3826818"/>
            <a:ext cx="2684487" cy="78454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145783" y="3947368"/>
            <a:ext cx="238623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Distribution Analysis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6145783" y="4193158"/>
            <a:ext cx="2386236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Seaborn correlation matrices and distribution plots to pinpoint primary turnover vectors.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7493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Database Warehousing &amp; SQL Analytical Engine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186830"/>
            <a:ext cx="86089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refined dataset was loaded via SQLAlchemy into a PostgreSQL instance (</a:t>
            </a: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Attrition</a:t>
            </a: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). Optimized SQL queries addressed key business domains.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523181"/>
            <a:ext cx="8151763" cy="3082751"/>
          </a:xfrm>
          <a:prstGeom prst="roundRect">
            <a:avLst>
              <a:gd name="adj" fmla="val 178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885206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244849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604492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964135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323779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3683422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6119" y="4043065"/>
            <a:ext cx="8151763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31627" y="1604962"/>
            <a:ext cx="223138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Business Domain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67149" y="1604962"/>
            <a:ext cx="30456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SQL Concept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16910" y="1604962"/>
            <a:ext cx="345273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Analytical Objective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1627" y="1964606"/>
            <a:ext cx="223138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Workforce Volume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67149" y="1964606"/>
            <a:ext cx="30456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6910" y="1964606"/>
            <a:ext cx="345273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Establish baseline headcount.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1627" y="2324249"/>
            <a:ext cx="223138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Turnover Baseline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67149" y="2324249"/>
            <a:ext cx="30456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Attrition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16910" y="2324249"/>
            <a:ext cx="345273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Attrition vs. retention volumes.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1627" y="2683892"/>
            <a:ext cx="223138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Role Risk Profiling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67149" y="2683892"/>
            <a:ext cx="30456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Job Role, Attrition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16910" y="2683892"/>
            <a:ext cx="345273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Identify high-turnover functional areas.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1627" y="3043535"/>
            <a:ext cx="223138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Workload Impact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67149" y="3043535"/>
            <a:ext cx="30456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Overtime, Attrition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6910" y="3043535"/>
            <a:ext cx="345273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Turnover variance from mandatory overtime.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1627" y="3403178"/>
            <a:ext cx="223138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Satisfaction &amp; WLB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67149" y="3403178"/>
            <a:ext cx="30456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Job Satisfaction / WLB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16910" y="3403178"/>
            <a:ext cx="345273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Turnover rates across satisfaction and WLB tiers.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1627" y="3762821"/>
            <a:ext cx="223138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Compensation Analysis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67149" y="3762821"/>
            <a:ext cx="30456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AVG(Monthly Income) GROUP BY Job Level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6910" y="3762821"/>
            <a:ext cx="345273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Salary distribution across roles and levels.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1627" y="4122465"/>
            <a:ext cx="223138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Tenure &amp; Remote Work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67149" y="4122465"/>
            <a:ext cx="258841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AVG(Years at Company) GROUP BY Remote Work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6910" y="4122465"/>
            <a:ext cx="345273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Correlate retention with remote status and tenure.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6553"/>
            <a:ext cx="4722763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Business Intelligence Dashboard Architecture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96119" y="1354262"/>
            <a:ext cx="4722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cohesive 3-page interactive Power BI report built to strict corporate UI/UX standards: dark-themed containers, unified typography, and intuitive global slicers.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1862658"/>
            <a:ext cx="2305124" cy="1863254"/>
          </a:xfrm>
          <a:prstGeom prst="roundRect">
            <a:avLst>
              <a:gd name="adj" fmla="val 2846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7087" y="1993627"/>
            <a:ext cx="204318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Page 1: Overview Dashboard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7087" y="2258318"/>
            <a:ext cx="2043187" cy="1336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Executive high-level metrics: Total Headcount (74.50K), Avg. Monthly Income ($7.34K), Avg. Age (38.53), Avg. Tenure (15.72 yrs). Macro distributions across Job Roles, Gender, Education, and Company Size.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913683" y="1862658"/>
            <a:ext cx="2305199" cy="1863254"/>
          </a:xfrm>
          <a:prstGeom prst="roundRect">
            <a:avLst>
              <a:gd name="adj" fmla="val 2846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44651" y="1993627"/>
            <a:ext cx="2043261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Page 2: Attrition Deep Analysis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44651" y="2455590"/>
            <a:ext cx="2043261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Granular diagnostic view across key friction vectors: Job Role, Overtime, Job Satisfaction, Work-Life Balance, Education, and Remote Work. Includes executive insight callouts.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3838352"/>
            <a:ext cx="4722763" cy="908521"/>
          </a:xfrm>
          <a:prstGeom prst="roundRect">
            <a:avLst>
              <a:gd name="adj" fmla="val 583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7087" y="3969321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Page 3: Insights &amp; Recommendations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7087" y="4234011"/>
            <a:ext cx="446082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 top-line KPI benchmarks, a prioritized Strategic Recommendation Table, and an AI Smart Narrative summary.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07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Dashboard — Page 1: Overview Metrics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8422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74.50K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1953369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Total Headcount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25988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Organization-wide employee baseline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308422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$7.34K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4660553" y="1953369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Avg. Monthly Income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259881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Across all roles and levels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841054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38.53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496119" y="3486001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Average Age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792513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Workforce demographic profile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2841054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15.72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4660553" y="3486001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Avg. Tenure (yrs)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3792513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Years at company average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417879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Macro distributions displayed across Job Roles, Gender, Education Level, and Company Size provide executives with an at-a-glance workforce composition view.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Dashboard — Page 2: Attrition Deep Analysis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297311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Granular Diagnostic View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449190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Page 2 breaks down turnover across the six key friction vectors, enabling executives to slice and dice data interactively for root-cause analysis.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660154"/>
            <a:ext cx="3986733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Job Role breakdown — Technology &amp; Healthcare highest risk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Overtime status — mandatory overtime drives turnover variance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Job Satisfaction ratings — low scores correlate strongly with exits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Work-Life Balance tiers — poor WLB increases attrition rates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Education level and Remote Work flexibility correlations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6925"/>
            <a:ext cx="4722763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Findings &amp; Strategic Recommendations</a:t>
            </a:r>
            <a:endParaRPr lang="en-US" sz="2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237804"/>
            <a:ext cx="4722763" cy="8096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78188" y="153672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4481215" y="1365052"/>
            <a:ext cx="403941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Cap Excessive Overtime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481215" y="1595512"/>
            <a:ext cx="403941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 overtime thresholds and resource rebalancing, specifically targeting high-burnout teams in Technology and Healthcare.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137470"/>
            <a:ext cx="4722763" cy="80969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78188" y="2436391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4481215" y="2264718"/>
            <a:ext cx="403941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 High-Attrition Roles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481215" y="2495178"/>
            <a:ext cx="403941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Establish clear career progression pathways and structured stay-interviews for mid-level technical staff to combat stagnancy.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037136"/>
            <a:ext cx="4722763" cy="80969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078188" y="3336057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481215" y="3164384"/>
            <a:ext cx="403941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Boost Role Satisfaction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481215" y="3394844"/>
            <a:ext cx="403941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Launch structured peer-to-peer recognition programs and performance incentives to address declining job satisfaction.</a:t>
            </a:r>
            <a:endParaRPr lang="en-US" sz="8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936802"/>
            <a:ext cx="4722763" cy="80969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078188" y="4235723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4481215" y="4064050"/>
            <a:ext cx="403941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Proactive HR Interventions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4481215" y="4294510"/>
            <a:ext cx="403941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Deploy quarterly pulse surveys to flag declining team satisfaction metrics early, allowing proactive intervention before resignations occur.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380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Smart Narrative Summary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82613"/>
            <a:ext cx="5190753" cy="29413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9708" y="1074986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the Data Tells Us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99708" y="1384697"/>
            <a:ext cx="265286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attrition drivers across the organization are </a:t>
            </a:r>
            <a:r>
              <a:rPr lang="en-US" sz="9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excessive overtime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9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low job satisfaction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and </a:t>
            </a:r>
            <a:r>
              <a:rPr lang="en-US" sz="9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poor work-life balance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heavily impacting Technology and Healthcare roles.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999708" y="2306538"/>
            <a:ext cx="2652861" cy="14288"/>
          </a:xfrm>
          <a:prstGeom prst="roundRect">
            <a:avLst>
              <a:gd name="adj" fmla="val 49998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999708" y="2478881"/>
            <a:ext cx="311006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Strategic recommendations focus on: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99708" y="2771031"/>
            <a:ext cx="2652861" cy="881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Implementing overtime caps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Defining structured career growth pathways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Enhancing recognition programs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Deploying proactive HR pulse checks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99708" y="3779193"/>
            <a:ext cx="2652861" cy="838349"/>
          </a:xfrm>
          <a:prstGeom prst="roundRect">
            <a:avLst>
              <a:gd name="adj" fmla="val 6326"/>
            </a:avLst>
          </a:prstGeom>
          <a:solidFill>
            <a:srgbClr val="B6FCB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914" y="3969395"/>
            <a:ext cx="157758" cy="1262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9879" y="3911947"/>
            <a:ext cx="2116485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Goal: Stabilize retention and increase employee tenure through targeted operational interventions.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860</Words>
  <Application>Microsoft Office PowerPoint</Application>
  <PresentationFormat>On-screen Show (16:9)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Lato Bold</vt:lpstr>
      <vt:lpstr>Arial</vt:lpstr>
      <vt:lpstr>Lato</vt:lpstr>
      <vt:lpstr>Gelasio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ANKAN MONDAL</dc:creator>
  <cp:lastModifiedBy>Ankan Mondal</cp:lastModifiedBy>
  <cp:revision>1</cp:revision>
  <dcterms:created xsi:type="dcterms:W3CDTF">2026-08-01T15:29:34Z</dcterms:created>
  <dcterms:modified xsi:type="dcterms:W3CDTF">2026-08-01T15:32:07Z</dcterms:modified>
</cp:coreProperties>
</file>